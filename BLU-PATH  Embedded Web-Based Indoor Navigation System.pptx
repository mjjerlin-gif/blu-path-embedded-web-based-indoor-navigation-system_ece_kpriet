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ublic Sans Bold" charset="1" panose="00000000000000000000"/>
      <p:regular r:id="rId14"/>
    </p:embeddedFont>
    <p:embeddedFont>
      <p:font typeface="Playfair Display" charset="1" panose="00000500000000000000"/>
      <p:regular r:id="rId15"/>
    </p:embeddedFont>
    <p:embeddedFont>
      <p:font typeface="Public Sans" charset="1" panose="00000000000000000000"/>
      <p:regular r:id="rId16"/>
    </p:embeddedFont>
    <p:embeddedFont>
      <p:font typeface="Cambria" charset="1" panose="02040503050406030204"/>
      <p:regular r:id="rId17"/>
    </p:embeddedFont>
    <p:embeddedFont>
      <p:font typeface="Cambria Bold" charset="1" panose="0204080305040603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https://github.com/mjjerlin-gif/BLU-PATH-Embedded-Web-Based-Indoor-Navigation-System" TargetMode="External" Type="http://schemas.openxmlformats.org/officeDocument/2006/relationships/hyperlink"/><Relationship Id="rId4" Target="https://drive.google.com/file/d/1blj6_kifL7GjyTbkOr8AunKT7m6mt8Uk/view?usp=drive_link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333366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82" y="3585792"/>
            <a:ext cx="16230600" cy="34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0"/>
              </a:lnSpc>
              <a:spcBef>
                <a:spcPct val="0"/>
              </a:spcBef>
            </a:pPr>
            <a:r>
              <a:rPr lang="en-US" b="true" sz="2014" spc="457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SILICON LABS BRD2605A · WISECONNECT SDK · OFFLINE · NO APP REQUIRED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0974" y="2667355"/>
            <a:ext cx="16408332" cy="56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0"/>
              </a:lnSpc>
            </a:pPr>
            <a:r>
              <a:rPr lang="en-US" sz="4561" spc="2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BLU-PATH : Embedded Web-Based Indoor Navigation System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898431" y="6015990"/>
            <a:ext cx="3642089" cy="3242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9"/>
              </a:lnSpc>
            </a:pPr>
            <a:r>
              <a:rPr lang="en-US" sz="28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Jerlin Jeba MJ </a:t>
            </a:r>
          </a:p>
          <a:p>
            <a:pPr algn="l">
              <a:lnSpc>
                <a:spcPts val="4349"/>
              </a:lnSpc>
            </a:pPr>
            <a:r>
              <a:rPr lang="en-US" sz="28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Ilakkiya V</a:t>
            </a:r>
          </a:p>
          <a:p>
            <a:pPr algn="l">
              <a:lnSpc>
                <a:spcPts val="4349"/>
              </a:lnSpc>
            </a:pPr>
            <a:r>
              <a:rPr lang="en-US" sz="28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Kanishka</a:t>
            </a:r>
            <a:r>
              <a:rPr lang="en-US" sz="28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8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</a:t>
            </a:r>
          </a:p>
          <a:p>
            <a:pPr algn="l">
              <a:lnSpc>
                <a:spcPts val="4349"/>
              </a:lnSpc>
            </a:pPr>
            <a:r>
              <a:rPr lang="en-US" sz="28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Riyash</a:t>
            </a:r>
            <a:r>
              <a:rPr lang="en-US" sz="28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M</a:t>
            </a:r>
          </a:p>
          <a:p>
            <a:pPr algn="l">
              <a:lnSpc>
                <a:spcPts val="4349"/>
              </a:lnSpc>
            </a:pPr>
            <a:r>
              <a:rPr lang="en-US" sz="28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Ramprasath V </a:t>
            </a:r>
          </a:p>
          <a:p>
            <a:pPr algn="l">
              <a:lnSpc>
                <a:spcPts val="434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2898431" y="5252931"/>
            <a:ext cx="2368878" cy="655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4"/>
              </a:lnSpc>
            </a:pPr>
            <a:r>
              <a:rPr lang="en-US" sz="3549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Author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153308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850974" y="853567"/>
            <a:ext cx="16408332" cy="58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1"/>
              </a:lnSpc>
            </a:pPr>
            <a:r>
              <a:rPr lang="en-US" sz="4661" spc="2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Problem Statement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49722"/>
            <a:ext cx="16032407" cy="43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2"/>
              </a:lnSpc>
            </a:pPr>
            <a:r>
              <a:rPr lang="en-US" sz="3763" spc="18">
                <a:solidFill>
                  <a:srgbClr val="2B2C30"/>
                </a:solidFill>
                <a:latin typeface="Cambria"/>
                <a:ea typeface="Cambria"/>
                <a:cs typeface="Cambria"/>
                <a:sym typeface="Cambria"/>
              </a:rPr>
              <a:t>Visitors entering large campuses such as colleges, hospitals, and corporate buildings often struggle to locate specific departments, labs, offices, or service centers. GPS-based navigation works well outdoors but fails completely inside buildings because signals are blocked by walls and ceilings. There is no self-service indoor wayfinding solution available in most campuses, forcing visitors to depend on staff for directions — which wastes time and increases operational burden.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153308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850974" y="853567"/>
            <a:ext cx="16408332" cy="58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1"/>
              </a:lnSpc>
            </a:pPr>
            <a:r>
              <a:rPr lang="en-US" sz="4661" spc="2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Objectives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49722"/>
            <a:ext cx="16032407" cy="43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2"/>
              </a:lnSpc>
            </a:pPr>
            <a:r>
              <a:rPr lang="en-US" sz="3763" spc="18">
                <a:solidFill>
                  <a:srgbClr val="2B2C30"/>
                </a:solidFill>
                <a:latin typeface="Cambria"/>
                <a:ea typeface="Cambria"/>
                <a:cs typeface="Cambria"/>
                <a:sym typeface="Cambria"/>
              </a:rPr>
              <a:t>The goal of BLU-PATH is to provide reliable campus-level indoor navigation without depending on GPS or internet connectivity. The system hosts a navigation webpage directly on the BRD2605A embedded board, allowing visitors to access it instantly by scanning a QR code. It displays interactive campus maps and destination-specific route information, operates fully offline, and improves the overall visitor experience without requiring any mobile app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153308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850974" y="853567"/>
            <a:ext cx="16408332" cy="58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1"/>
              </a:lnSpc>
            </a:pPr>
            <a:r>
              <a:rPr lang="en-US" sz="4661" spc="2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Proposed Solution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6" y="1797270"/>
            <a:ext cx="16032407" cy="4943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2"/>
              </a:lnSpc>
            </a:pPr>
            <a:r>
              <a:rPr lang="en-US" sz="3763" spc="18">
                <a:solidFill>
                  <a:srgbClr val="2B2C30"/>
                </a:solidFill>
                <a:latin typeface="Cambria"/>
                <a:ea typeface="Cambria"/>
                <a:cs typeface="Cambria"/>
                <a:sym typeface="Cambria"/>
              </a:rPr>
              <a:t>BLU-PATH uses the Silicon Labs BRD2605A board configured as a standalone Wi-Fi Access Point and embedded HTTP web server. When a visitor enters the campus, they scan the BLU-PATH QR code placed at the entrance. Their smartphone connects to the local Wi-Fi network, and the navigation portal opens automatically in the mobile browser. The user selects a destination from the campus directory and receives a route map along with navigation instructions — all served locally from the embedded device, with no internet or app required.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920793" y="153308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02767" y="1671606"/>
            <a:ext cx="17082465" cy="7964699"/>
          </a:xfrm>
          <a:custGeom>
            <a:avLst/>
            <a:gdLst/>
            <a:ahLst/>
            <a:cxnLst/>
            <a:rect r="r" b="b" t="t" l="l"/>
            <a:pathLst>
              <a:path h="7964699" w="17082465">
                <a:moveTo>
                  <a:pt x="0" y="0"/>
                </a:moveTo>
                <a:lnTo>
                  <a:pt x="17082466" y="0"/>
                </a:lnTo>
                <a:lnTo>
                  <a:pt x="17082466" y="7964700"/>
                </a:lnTo>
                <a:lnTo>
                  <a:pt x="0" y="7964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20793" y="853567"/>
            <a:ext cx="16338513" cy="58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1"/>
              </a:lnSpc>
            </a:pPr>
            <a:r>
              <a:rPr lang="en-US" sz="4661" spc="2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Block Diagram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153308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987459" y="853567"/>
            <a:ext cx="16408332" cy="58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1"/>
              </a:lnSpc>
            </a:pPr>
            <a:r>
              <a:rPr lang="en-US" sz="4661" spc="2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Hardware &amp; Software Requirements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6" y="1829638"/>
            <a:ext cx="16032407" cy="609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2"/>
              </a:lnSpc>
            </a:pPr>
            <a:r>
              <a:rPr lang="en-US" sz="3763" spc="18" b="true">
                <a:solidFill>
                  <a:srgbClr val="2B2C30"/>
                </a:solidFill>
                <a:latin typeface="Cambria Bold"/>
                <a:ea typeface="Cambria Bold"/>
                <a:cs typeface="Cambria Bold"/>
                <a:sym typeface="Cambria Bold"/>
              </a:rPr>
              <a:t>Hardware: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310432"/>
            <a:ext cx="16032407" cy="609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2"/>
              </a:lnSpc>
            </a:pPr>
            <a:r>
              <a:rPr lang="en-US" sz="3763" spc="18" b="true">
                <a:solidFill>
                  <a:srgbClr val="2B2C30"/>
                </a:solidFill>
                <a:latin typeface="Cambria Bold"/>
                <a:ea typeface="Cambria Bold"/>
                <a:cs typeface="Cambria Bold"/>
                <a:sym typeface="Cambria Bold"/>
              </a:rPr>
              <a:t>Software: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7797" y="2586457"/>
            <a:ext cx="16032407" cy="3085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2591" indent="-406296" lvl="1">
              <a:lnSpc>
                <a:spcPts val="4892"/>
              </a:lnSpc>
              <a:buFont typeface="Arial"/>
              <a:buChar char="•"/>
            </a:pPr>
            <a:r>
              <a:rPr lang="en-US" sz="3763" spc="18">
                <a:solidFill>
                  <a:srgbClr val="2B2C30"/>
                </a:solidFill>
                <a:latin typeface="Cambria"/>
                <a:ea typeface="Cambria"/>
                <a:cs typeface="Cambria"/>
                <a:sym typeface="Cambria"/>
              </a:rPr>
              <a:t>Silicon Labs BRD2605A (SiWx917) Development Board</a:t>
            </a:r>
          </a:p>
          <a:p>
            <a:pPr algn="l" marL="812591" indent="-406296" lvl="1">
              <a:lnSpc>
                <a:spcPts val="4892"/>
              </a:lnSpc>
              <a:buFont typeface="Arial"/>
              <a:buChar char="•"/>
            </a:pPr>
            <a:r>
              <a:rPr lang="en-US" sz="3763" spc="18">
                <a:solidFill>
                  <a:srgbClr val="2B2C30"/>
                </a:solidFill>
                <a:latin typeface="Cambria"/>
                <a:ea typeface="Cambria"/>
                <a:cs typeface="Cambria"/>
                <a:sym typeface="Cambria"/>
              </a:rPr>
              <a:t>USB Power Supply</a:t>
            </a:r>
          </a:p>
          <a:p>
            <a:pPr algn="l" marL="812591" indent="-406296" lvl="1">
              <a:lnSpc>
                <a:spcPts val="4892"/>
              </a:lnSpc>
              <a:buFont typeface="Arial"/>
              <a:buChar char="•"/>
            </a:pPr>
            <a:r>
              <a:rPr lang="en-US" sz="3763" spc="18">
                <a:solidFill>
                  <a:srgbClr val="2B2C30"/>
                </a:solidFill>
                <a:latin typeface="Cambria"/>
                <a:ea typeface="Cambria"/>
                <a:cs typeface="Cambria"/>
                <a:sym typeface="Cambria"/>
              </a:rPr>
              <a:t>QR Code Display Board</a:t>
            </a:r>
          </a:p>
          <a:p>
            <a:pPr algn="l" marL="812591" indent="-406296" lvl="1">
              <a:lnSpc>
                <a:spcPts val="4892"/>
              </a:lnSpc>
              <a:buFont typeface="Arial"/>
              <a:buChar char="•"/>
            </a:pPr>
            <a:r>
              <a:rPr lang="en-US" sz="3763" spc="18">
                <a:solidFill>
                  <a:srgbClr val="2B2C30"/>
                </a:solidFill>
                <a:latin typeface="Cambria"/>
                <a:ea typeface="Cambria"/>
                <a:cs typeface="Cambria"/>
                <a:sym typeface="Cambria"/>
              </a:rPr>
              <a:t>Visitor's Smartphone / Tablet</a:t>
            </a:r>
          </a:p>
          <a:p>
            <a:pPr algn="l">
              <a:lnSpc>
                <a:spcPts val="4892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127797" y="6062733"/>
            <a:ext cx="16032407" cy="3705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2591" indent="-406296" lvl="1">
              <a:lnSpc>
                <a:spcPts val="4892"/>
              </a:lnSpc>
              <a:buFont typeface="Arial"/>
              <a:buChar char="•"/>
            </a:pPr>
            <a:r>
              <a:rPr lang="en-US" sz="3763" spc="18">
                <a:solidFill>
                  <a:srgbClr val="2B2C30"/>
                </a:solidFill>
                <a:latin typeface="Cambria"/>
                <a:ea typeface="Cambria"/>
                <a:cs typeface="Cambria"/>
                <a:sym typeface="Cambria"/>
              </a:rPr>
              <a:t>Simplicity Studio IDE</a:t>
            </a:r>
          </a:p>
          <a:p>
            <a:pPr algn="l" marL="812591" indent="-406296" lvl="1">
              <a:lnSpc>
                <a:spcPts val="4892"/>
              </a:lnSpc>
              <a:buFont typeface="Arial"/>
              <a:buChar char="•"/>
            </a:pPr>
            <a:r>
              <a:rPr lang="en-US" sz="3763" spc="18">
                <a:solidFill>
                  <a:srgbClr val="2B2C30"/>
                </a:solidFill>
                <a:latin typeface="Cambria"/>
                <a:ea typeface="Cambria"/>
                <a:cs typeface="Cambria"/>
                <a:sym typeface="Cambria"/>
              </a:rPr>
              <a:t>WiseConnect SDK</a:t>
            </a:r>
          </a:p>
          <a:p>
            <a:pPr algn="l" marL="812591" indent="-406296" lvl="1">
              <a:lnSpc>
                <a:spcPts val="4892"/>
              </a:lnSpc>
              <a:buFont typeface="Arial"/>
              <a:buChar char="•"/>
            </a:pPr>
            <a:r>
              <a:rPr lang="en-US" sz="3763" spc="18">
                <a:solidFill>
                  <a:srgbClr val="2B2C30"/>
                </a:solidFill>
                <a:latin typeface="Cambria"/>
                <a:ea typeface="Cambria"/>
                <a:cs typeface="Cambria"/>
                <a:sym typeface="Cambria"/>
              </a:rPr>
              <a:t>Embedded HTTP Server</a:t>
            </a:r>
          </a:p>
          <a:p>
            <a:pPr algn="l" marL="812591" indent="-406296" lvl="1">
              <a:lnSpc>
                <a:spcPts val="4892"/>
              </a:lnSpc>
              <a:buFont typeface="Arial"/>
              <a:buChar char="•"/>
            </a:pPr>
            <a:r>
              <a:rPr lang="en-US" sz="3763" spc="18">
                <a:solidFill>
                  <a:srgbClr val="2B2C30"/>
                </a:solidFill>
                <a:latin typeface="Cambria"/>
                <a:ea typeface="Cambria"/>
                <a:cs typeface="Cambria"/>
                <a:sym typeface="Cambria"/>
              </a:rPr>
              <a:t>HTML · CSS · JavaScript</a:t>
            </a:r>
          </a:p>
          <a:p>
            <a:pPr algn="l" marL="812591" indent="-406296" lvl="1">
              <a:lnSpc>
                <a:spcPts val="4892"/>
              </a:lnSpc>
              <a:buFont typeface="Arial"/>
              <a:buChar char="•"/>
            </a:pPr>
            <a:r>
              <a:rPr lang="en-US" sz="3763" spc="18">
                <a:solidFill>
                  <a:srgbClr val="2B2C30"/>
                </a:solidFill>
                <a:latin typeface="Cambria"/>
                <a:ea typeface="Cambria"/>
                <a:cs typeface="Cambria"/>
                <a:sym typeface="Cambria"/>
              </a:rPr>
              <a:t>W</a:t>
            </a:r>
            <a:r>
              <a:rPr lang="en-US" sz="3763" spc="18">
                <a:solidFill>
                  <a:srgbClr val="2B2C30"/>
                </a:solidFill>
                <a:latin typeface="Cambria"/>
                <a:ea typeface="Cambria"/>
                <a:cs typeface="Cambria"/>
                <a:sym typeface="Cambria"/>
              </a:rPr>
              <a:t>i-Fi Access Point Configuration</a:t>
            </a:r>
          </a:p>
          <a:p>
            <a:pPr algn="l">
              <a:lnSpc>
                <a:spcPts val="4892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153308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987459" y="853567"/>
            <a:ext cx="16408332" cy="58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1"/>
              </a:lnSpc>
            </a:pPr>
            <a:r>
              <a:rPr lang="en-US" sz="4661" spc="2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Working Principle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87459" y="1943284"/>
            <a:ext cx="16032407" cy="4943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2591" indent="-406296" lvl="1">
              <a:lnSpc>
                <a:spcPts val="4892"/>
              </a:lnSpc>
              <a:buAutoNum type="arabicPeriod" startAt="1"/>
            </a:pPr>
            <a:r>
              <a:rPr lang="en-US" sz="3763" spc="18">
                <a:solidFill>
                  <a:srgbClr val="2B2C30"/>
                </a:solidFill>
                <a:latin typeface="Cambria"/>
                <a:ea typeface="Cambria"/>
                <a:cs typeface="Cambria"/>
                <a:sym typeface="Cambria"/>
              </a:rPr>
              <a:t>BRD2605A boots as Wi-Fi Access Point named "BLU-PATH"</a:t>
            </a:r>
          </a:p>
          <a:p>
            <a:pPr algn="l" marL="812591" indent="-406296" lvl="1">
              <a:lnSpc>
                <a:spcPts val="4892"/>
              </a:lnSpc>
              <a:buAutoNum type="arabicPeriod" startAt="1"/>
            </a:pPr>
            <a:r>
              <a:rPr lang="en-US" sz="3763" spc="18">
                <a:solidFill>
                  <a:srgbClr val="2B2C30"/>
                </a:solidFill>
                <a:latin typeface="Cambria"/>
                <a:ea typeface="Cambria"/>
                <a:cs typeface="Cambria"/>
                <a:sym typeface="Cambria"/>
              </a:rPr>
              <a:t>V</a:t>
            </a:r>
            <a:r>
              <a:rPr lang="en-US" sz="3763" spc="18">
                <a:solidFill>
                  <a:srgbClr val="2B2C30"/>
                </a:solidFill>
                <a:latin typeface="Cambria"/>
                <a:ea typeface="Cambria"/>
                <a:cs typeface="Cambria"/>
                <a:sym typeface="Cambria"/>
              </a:rPr>
              <a:t>isitor scans the QR code at campus entrance</a:t>
            </a:r>
          </a:p>
          <a:p>
            <a:pPr algn="l" marL="812591" indent="-406296" lvl="1">
              <a:lnSpc>
                <a:spcPts val="4892"/>
              </a:lnSpc>
              <a:buAutoNum type="arabicPeriod" startAt="1"/>
            </a:pPr>
            <a:r>
              <a:rPr lang="en-US" sz="3763" spc="18">
                <a:solidFill>
                  <a:srgbClr val="2B2C30"/>
                </a:solidFill>
                <a:latin typeface="Cambria"/>
                <a:ea typeface="Cambria"/>
                <a:cs typeface="Cambria"/>
                <a:sym typeface="Cambria"/>
              </a:rPr>
              <a:t>Smartphone connects to BLU-PATH Wi-Fi network</a:t>
            </a:r>
          </a:p>
          <a:p>
            <a:pPr algn="l" marL="812591" indent="-406296" lvl="1">
              <a:lnSpc>
                <a:spcPts val="4892"/>
              </a:lnSpc>
              <a:buAutoNum type="arabicPeriod" startAt="1"/>
            </a:pPr>
            <a:r>
              <a:rPr lang="en-US" sz="3763" spc="18">
                <a:solidFill>
                  <a:srgbClr val="2B2C30"/>
                </a:solidFill>
                <a:latin typeface="Cambria"/>
                <a:ea typeface="Cambria"/>
                <a:cs typeface="Cambria"/>
                <a:sym typeface="Cambria"/>
              </a:rPr>
              <a:t>Embedded web portal opens automatically in browser</a:t>
            </a:r>
          </a:p>
          <a:p>
            <a:pPr algn="l" marL="812591" indent="-406296" lvl="1">
              <a:lnSpc>
                <a:spcPts val="4892"/>
              </a:lnSpc>
              <a:buAutoNum type="arabicPeriod" startAt="1"/>
            </a:pPr>
            <a:r>
              <a:rPr lang="en-US" sz="3763" spc="18">
                <a:solidFill>
                  <a:srgbClr val="2B2C30"/>
                </a:solidFill>
                <a:latin typeface="Cambria"/>
                <a:ea typeface="Cambria"/>
                <a:cs typeface="Cambria"/>
                <a:sym typeface="Cambria"/>
              </a:rPr>
              <a:t>User selects</a:t>
            </a:r>
            <a:r>
              <a:rPr lang="en-US" sz="3763" spc="18">
                <a:solidFill>
                  <a:srgbClr val="2B2C30"/>
                </a:solidFill>
                <a:latin typeface="Cambria"/>
                <a:ea typeface="Cambria"/>
                <a:cs typeface="Cambria"/>
                <a:sym typeface="Cambria"/>
              </a:rPr>
              <a:t> desired destination from campus directory</a:t>
            </a:r>
          </a:p>
          <a:p>
            <a:pPr algn="l" marL="812591" indent="-406296" lvl="1">
              <a:lnSpc>
                <a:spcPts val="4892"/>
              </a:lnSpc>
              <a:buAutoNum type="arabicPeriod" startAt="1"/>
            </a:pPr>
            <a:r>
              <a:rPr lang="en-US" sz="3763" spc="18">
                <a:solidFill>
                  <a:srgbClr val="2B2C30"/>
                </a:solidFill>
                <a:latin typeface="Cambria"/>
                <a:ea typeface="Cambria"/>
                <a:cs typeface="Cambria"/>
                <a:sym typeface="Cambria"/>
              </a:rPr>
              <a:t>System displays route map and turn-by-turn guidance</a:t>
            </a:r>
          </a:p>
          <a:p>
            <a:pPr algn="l" marL="812591" indent="-406296" lvl="1">
              <a:lnSpc>
                <a:spcPts val="4892"/>
              </a:lnSpc>
              <a:buAutoNum type="arabicPeriod" startAt="1"/>
            </a:pPr>
            <a:r>
              <a:rPr lang="en-US" sz="3763" spc="18">
                <a:solidFill>
                  <a:srgbClr val="2B2C30"/>
                </a:solidFill>
                <a:latin typeface="Cambria"/>
                <a:ea typeface="Cambria"/>
                <a:cs typeface="Cambria"/>
                <a:sym typeface="Cambria"/>
              </a:rPr>
              <a:t>V</a:t>
            </a:r>
            <a:r>
              <a:rPr lang="en-US" sz="3763" spc="18">
                <a:solidFill>
                  <a:srgbClr val="2B2C30"/>
                </a:solidFill>
                <a:latin typeface="Cambria"/>
                <a:ea typeface="Cambria"/>
                <a:cs typeface="Cambria"/>
                <a:sym typeface="Cambria"/>
              </a:rPr>
              <a:t>isitor reaches destination independently</a:t>
            </a:r>
          </a:p>
          <a:p>
            <a:pPr algn="l">
              <a:lnSpc>
                <a:spcPts val="4892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153308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209178" y="2379628"/>
            <a:ext cx="5771226" cy="5771226"/>
          </a:xfrm>
          <a:custGeom>
            <a:avLst/>
            <a:gdLst/>
            <a:ahLst/>
            <a:cxnLst/>
            <a:rect r="r" b="b" t="t" l="l"/>
            <a:pathLst>
              <a:path h="5771226" w="5771226">
                <a:moveTo>
                  <a:pt x="0" y="0"/>
                </a:moveTo>
                <a:lnTo>
                  <a:pt x="5771227" y="0"/>
                </a:lnTo>
                <a:lnTo>
                  <a:pt x="5771227" y="5771226"/>
                </a:lnTo>
                <a:lnTo>
                  <a:pt x="0" y="57712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87459" y="853567"/>
            <a:ext cx="16408332" cy="58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1"/>
              </a:lnSpc>
            </a:pPr>
            <a:r>
              <a:rPr lang="en-US" sz="4661" spc="2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Results &amp; Demo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919791" y="8411582"/>
            <a:ext cx="4791676" cy="50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2"/>
              </a:lnSpc>
            </a:pPr>
            <a:r>
              <a:rPr lang="en-US" sz="3063" spc="15">
                <a:solidFill>
                  <a:srgbClr val="2B2C30"/>
                </a:solidFill>
                <a:latin typeface="Cambria"/>
                <a:ea typeface="Cambria"/>
                <a:cs typeface="Cambria"/>
                <a:sym typeface="Cambria"/>
              </a:rPr>
              <a:t>Scan to find the destination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35959" y="7399881"/>
            <a:ext cx="5958432" cy="760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3"/>
              </a:lnSpc>
            </a:pPr>
            <a:r>
              <a:rPr lang="en-US" sz="4618" spc="23">
                <a:solidFill>
                  <a:srgbClr val="2B2C30"/>
                </a:solidFill>
                <a:latin typeface="Cambria"/>
                <a:ea typeface="Cambria"/>
                <a:cs typeface="Cambria"/>
                <a:sym typeface="Cambria"/>
              </a:rPr>
              <a:t>Source Code:</a:t>
            </a:r>
            <a:r>
              <a:rPr lang="en-US" b="true" sz="4618" spc="23">
                <a:solidFill>
                  <a:srgbClr val="2A53A9"/>
                </a:solidFill>
                <a:latin typeface="Cambria Bold"/>
                <a:ea typeface="Cambria Bold"/>
                <a:cs typeface="Cambria Bold"/>
                <a:sym typeface="Cambria Bold"/>
              </a:rPr>
              <a:t> </a:t>
            </a:r>
            <a:r>
              <a:rPr lang="en-US" sz="4618" spc="23" u="sng">
                <a:solidFill>
                  <a:srgbClr val="2A53A9"/>
                </a:solidFill>
                <a:latin typeface="Cambria"/>
                <a:ea typeface="Cambria"/>
                <a:cs typeface="Cambria"/>
                <a:sym typeface="Cambria"/>
                <a:hlinkClick r:id="rId3" tooltip="https://github.com/mjjerlin-gif/BLU-PATH-Embedded-Web-Based-Indoor-Navigation-System"/>
              </a:rPr>
              <a:t>GitHub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35959" y="6441830"/>
            <a:ext cx="5958432" cy="760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3"/>
              </a:lnSpc>
            </a:pPr>
            <a:r>
              <a:rPr lang="en-US" sz="4618" spc="23" u="sng">
                <a:solidFill>
                  <a:srgbClr val="2A53A9"/>
                </a:solidFill>
                <a:latin typeface="Cambria"/>
                <a:ea typeface="Cambria"/>
                <a:cs typeface="Cambria"/>
                <a:sym typeface="Cambria"/>
                <a:hlinkClick r:id="rId4" tooltip="https://drive.google.com/file/d/1blj6_kifL7GjyTbkOr8AunKT7m6mt8Uk/view?usp=drive_link"/>
              </a:rPr>
              <a:t>BLU-PATH.mp4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31608" y="2108570"/>
            <a:ext cx="4791676" cy="50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2"/>
              </a:lnSpc>
            </a:pPr>
            <a:r>
              <a:rPr lang="en-US" sz="3063" spc="15">
                <a:solidFill>
                  <a:srgbClr val="2B2C3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063" spc="15" b="true">
                <a:solidFill>
                  <a:srgbClr val="2B2C30"/>
                </a:solidFill>
                <a:latin typeface="Cambria Bold"/>
                <a:ea typeface="Cambria Bold"/>
                <a:cs typeface="Cambria Bold"/>
                <a:sym typeface="Cambria Bold"/>
              </a:rPr>
              <a:t>Future Enhancements 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5850" y="2765487"/>
            <a:ext cx="7875775" cy="3532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1465" indent="-330733" lvl="1">
              <a:lnSpc>
                <a:spcPts val="3982"/>
              </a:lnSpc>
              <a:buFont typeface="Arial"/>
              <a:buChar char="•"/>
            </a:pPr>
            <a:r>
              <a:rPr lang="en-US" sz="3063" spc="15">
                <a:solidFill>
                  <a:srgbClr val="2B2C30"/>
                </a:solidFill>
                <a:latin typeface="Cambria"/>
                <a:ea typeface="Cambria"/>
                <a:cs typeface="Cambria"/>
                <a:sym typeface="Cambria"/>
              </a:rPr>
              <a:t>BLE Beacon Integration for real-time positioning</a:t>
            </a:r>
          </a:p>
          <a:p>
            <a:pPr algn="l" marL="661465" indent="-330733" lvl="1">
              <a:lnSpc>
                <a:spcPts val="3982"/>
              </a:lnSpc>
              <a:buFont typeface="Arial"/>
              <a:buChar char="•"/>
            </a:pPr>
            <a:r>
              <a:rPr lang="en-US" sz="3063" spc="15">
                <a:solidFill>
                  <a:srgbClr val="2B2C30"/>
                </a:solidFill>
                <a:latin typeface="Cambria"/>
                <a:ea typeface="Cambria"/>
                <a:cs typeface="Cambria"/>
                <a:sym typeface="Cambria"/>
              </a:rPr>
              <a:t>Multi-floor &amp; large campus support</a:t>
            </a:r>
          </a:p>
          <a:p>
            <a:pPr algn="l" marL="661465" indent="-330733" lvl="1">
              <a:lnSpc>
                <a:spcPts val="3982"/>
              </a:lnSpc>
              <a:buFont typeface="Arial"/>
              <a:buChar char="•"/>
            </a:pPr>
            <a:r>
              <a:rPr lang="en-US" sz="3063" spc="15">
                <a:solidFill>
                  <a:srgbClr val="2B2C30"/>
                </a:solidFill>
                <a:latin typeface="Cambria"/>
                <a:ea typeface="Cambria"/>
                <a:cs typeface="Cambria"/>
                <a:sym typeface="Cambria"/>
              </a:rPr>
              <a:t>Dynamic route updates (congestion-aware)</a:t>
            </a:r>
          </a:p>
          <a:p>
            <a:pPr algn="l" marL="661465" indent="-330733" lvl="1">
              <a:lnSpc>
                <a:spcPts val="3982"/>
              </a:lnSpc>
              <a:buFont typeface="Arial"/>
              <a:buChar char="•"/>
            </a:pPr>
            <a:r>
              <a:rPr lang="en-US" sz="3063" spc="15">
                <a:solidFill>
                  <a:srgbClr val="2B2C30"/>
                </a:solidFill>
                <a:latin typeface="Cambria"/>
                <a:ea typeface="Cambria"/>
                <a:cs typeface="Cambria"/>
                <a:sym typeface="Cambria"/>
              </a:rPr>
              <a:t>Cloud + Mobile App companion</a:t>
            </a:r>
          </a:p>
          <a:p>
            <a:pPr algn="l">
              <a:lnSpc>
                <a:spcPts val="3982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DAHL5BNFOaY</dc:identifier>
  <dcterms:modified xsi:type="dcterms:W3CDTF">2011-08-01T06:04:30Z</dcterms:modified>
  <cp:revision>1</cp:revision>
  <dc:title>BLU-PATH : Embedded Web-Based Indoor Navigation System</dc:title>
</cp:coreProperties>
</file>